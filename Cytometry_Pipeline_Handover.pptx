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Cytometry Data Analysis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0">
                <a:solidFill>
                  <a:srgbClr val="06B6D4"/>
                </a:solidFill>
                <a:latin typeface="Calibri"/>
              </a:defRPr>
            </a:pPr>
            <a:r>
              <a:t>Handover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Modular flow cytometry framework  |  67 R scripts  |  5 pipelines  |  11 shared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1B2A4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1.  Project Overview &amp; Architecture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2.  Shared Utilities (R_shared) -- 11 modules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3.  Data Loading -- 6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4.  Preprocessing &amp; QC -- 13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5.  Panel Harmonization &amp; Batch Correction -- 5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6.  Clustering, Validation &amp; Annotation -- 9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7.  Statistical Analysis -- 12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8.  Visualization -- 13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9.  Metadata QC -- 4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10. Pipeline A: Raw FCS Full Analysis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11. Pipeline B: CSV Expression Quick Stats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12. Pipeline C: CSV Gating Abundance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13. Pipeline D: FlowJo Comparison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14. Pipeline E: Preprocessed FCS Fast Path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15. Pipeline Comparison Matrix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16. Data Formats, Bridge Functions &amp; Dispatchers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17. Decision Tree: Which Pipeline to Use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500" b="0">
                <a:solidFill>
                  <a:srgbClr val="1B2A4A"/>
                </a:solidFill>
                <a:latin typeface="Calibri"/>
              </a:rPr>
              <a:t>18. Key Takeaways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1B2A4A"/>
                </a:solidFill>
                <a:latin typeface="Calibri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What is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Modular flow cytometry analysis framework for immune cell phenotyping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Supports 5 input types: raw FCS, preprocessed FCS, CSV expression, CSV gating, FlowJo WSP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67 standalone R scripts organized in 8 functional modules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5 pipeline orchestrators that chain scripts into complete workflows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Config-driven: swap clustering, dim-reduction, batch correction via one parameter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GUI dialogs (tcltk) with CLI fallback for headless/server execution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B2A4A"/>
                </a:solidFill>
                <a:latin typeface="Calibri"/>
              </a:rPr>
              <a:t>All I/O via data.table; semicolon separator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Directory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src/R_shared/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-- 11 shared utility modules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src/loading/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-- 6 data loaders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src/preprocessing/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-- 13 QC &amp; transformation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src/harmonization/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-- 5 batch correction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src/clustering/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-- 9 clustering &amp; annotation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src/analysis/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-- 12 statistical analysis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src/visualization/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-- 13 plotting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src/metadata_qc/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-- 4 metadata QC scripts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pipelines/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-- 5 pipeline orchestrators (A-E)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config/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Pipeline + standalone configs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docs/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Composability guide, API ref, methods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test_data/</a:t>
            </a:r>
            <a:r>
              <a:rPr sz="1200" b="0">
                <a:solidFill>
                  <a:srgbClr val="1B2A4A"/>
                </a:solidFill>
                <a:latin typeface="Calibri"/>
              </a:rPr>
              <a:t> -- Synthetic test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12471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58384"/>
            <a:ext cx="1124712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Scripts are building blocks</a:t>
            </a:r>
            <a:r>
              <a:rPr sz="1200">
                <a:solidFill>
                  <a:srgbClr val="000000"/>
                </a:solidFill>
                <a:latin typeface="Calibri"/>
              </a:rPr>
              <a:t> -- each has one purpose with documented inputs/outputs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Pipelines are thin orchestrators</a:t>
            </a:r>
            <a:r>
              <a:rPr sz="1200">
                <a:solidFill>
                  <a:srgbClr val="000000"/>
                </a:solidFill>
                <a:latin typeface="Calibri"/>
              </a:rPr>
              <a:t> -- example workflows, not the only way to use scripts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Bridge functions convert between data formats</a:t>
            </a:r>
            <a:r>
              <a:rPr sz="1200">
                <a:solidFill>
                  <a:srgbClr val="000000"/>
                </a:solidFill>
                <a:latin typeface="Calibri"/>
              </a:rPr>
              <a:t> -- enabling free mix-and-match across pipelines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Method dispatchers allow swapping algorithms via config</a:t>
            </a:r>
            <a:r>
              <a:rPr sz="1200">
                <a:solidFill>
                  <a:srgbClr val="000000"/>
                </a:solidFill>
                <a:latin typeface="Calibri"/>
              </a:rPr>
              <a:t> -- no code changes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1B2A4A"/>
                </a:solidFill>
                <a:latin typeface="Calibri"/>
              </a:defRPr>
            </a:pPr>
            <a:r>
              <a:t>Architecture: High-Level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65760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FCS / CSV / FlowJo WSP files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83580" y="1691640"/>
            <a:ext cx="320040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2020824"/>
            <a:ext cx="36576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6654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Compensation, QC, transformation, gating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83580" y="2523744"/>
            <a:ext cx="320040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852928"/>
            <a:ext cx="36576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Harmonization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986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Panel unification, batch correction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83580" y="3355848"/>
            <a:ext cx="320040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3685032"/>
            <a:ext cx="365760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7307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Leiden / FlowSOM / PhenoGraph / DBSCAN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83580" y="4187952"/>
            <a:ext cx="320040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4517136"/>
            <a:ext cx="3657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56285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Abundance, enrichment, diff. expression, survival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83580" y="5020056"/>
            <a:ext cx="320040" cy="256032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5349240"/>
            <a:ext cx="365760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39495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UMAP, t-SNE, heatmaps, barplots, etc.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2A4A"/>
                </a:solidFill>
                <a:latin typeface="Calibri"/>
              </a:defRPr>
            </a:pPr>
            <a:r>
              <a:t>Data Formats at Each Stage: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544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flowFrame list</a:t>
            </a:r>
            <a:r>
              <a:rPr sz="1100" b="0">
                <a:solidFill>
                  <a:srgbClr val="1B2A4A"/>
                </a:solidFill>
                <a:latin typeface="Calibri"/>
              </a:rPr>
              <a:t> -- after Loading, Preprocessing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Numeric matrix</a:t>
            </a:r>
            <a:r>
              <a:rPr sz="1100" b="0">
                <a:solidFill>
                  <a:srgbClr val="1B2A4A"/>
                </a:solidFill>
                <a:latin typeface="Calibri"/>
              </a:rPr>
              <a:t> -- after bridge function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Gating CSV</a:t>
            </a:r>
            <a:r>
              <a:rPr sz="1100" b="0">
                <a:solidFill>
                  <a:srgbClr val="1B2A4A"/>
                </a:solidFill>
                <a:latin typeface="Calibri"/>
              </a:rPr>
              <a:t> -- after clustering (per-sample files)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Tracking matrix</a:t>
            </a:r>
            <a:r>
              <a:rPr sz="1100" b="0">
                <a:solidFill>
                  <a:srgbClr val="1B2A4A"/>
                </a:solidFill>
                <a:latin typeface="Calibri"/>
              </a:rPr>
              <a:t> -- sample x cluster cell counts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Long data.frame</a:t>
            </a:r>
            <a:r>
              <a:rPr sz="1100" b="0">
                <a:solidFill>
                  <a:srgbClr val="1B2A4A"/>
                </a:solidFill>
                <a:latin typeface="Calibri"/>
              </a:rPr>
              <a:t> -- tidy format for ggplot2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228600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Metadata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Acquisition QC, gating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77840"/>
            <a:ext cx="2286000" cy="411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R_shared Utilities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I/O, GUI, memory, stats, dispatchers (used by all modules)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2. Shared Utilities -- src/R_shared/ (11 modules)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io_utils.R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264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File I/O, CSV detection, column classification, die(), make_outdir()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memory_utils.R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408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Memory monitoring, chunked CSV reading for large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fcs_utils.R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552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FCS reading, event counting, compensation extraction, load_fcs_list()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gui_utils.R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1696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tcltk dialogs with CLI readline fallback, marker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548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flowframe_utils.R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0840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FlowFrame manipulation, build_combined_expr_matrix(), cellID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692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cluster_utils.R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984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Cluster naming, label conversion, binary-to-single-cluster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972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plot_utils.R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264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Multi-format saving (PDF/PNG/SVG), filename sanitization, barplots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stats_utils.R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408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Fisher exact, mixed-effects, NB-GLMM, PCA, UMAP helpers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clustering_dispatch.R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552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run_clustering()</a:t>
            </a:r>
            <a:r>
              <a:rPr sz="1100">
                <a:solidFill>
                  <a:srgbClr val="000000"/>
                </a:solidFill>
                <a:latin typeface="Calibri"/>
              </a:rPr>
              <a:t> -- routes to Leiden/FlowSOM/PhenoGraph/DBSCAN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dimred_dispatch.R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696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run_dimred()</a:t>
            </a:r>
            <a:r>
              <a:rPr sz="1100">
                <a:solidFill>
                  <a:srgbClr val="000000"/>
                </a:solidFill>
                <a:latin typeface="Calibri"/>
              </a:rPr>
              <a:t> -- routes to UMAP/t-SNE/diffusion 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54880"/>
            <a:ext cx="56692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batch_correction_dispatch.R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84064"/>
            <a:ext cx="566928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run_batch_correction_dispatch()</a:t>
            </a:r>
            <a:r>
              <a:rPr sz="1100">
                <a:solidFill>
                  <a:srgbClr val="000000"/>
                </a:solidFill>
                <a:latin typeface="Calibri"/>
              </a:rPr>
              <a:t> -- Harmony/CytoNorm/ComBat/none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 scripts source these via:  shared_dir &lt;- file.path(dirname(getwd()), "src", "R_shared")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3. Data Loading -- src/loading/ (6 scripts)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Used By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load_fcs_raw.R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load_fcs_raw()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Directory of .fcs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List of flowFrames + sample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Pipeline A,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load_csv_expression.R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load_csv_expression()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Directory of CSV expression files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Named list of data.tables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Pipeline 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load_csv_gating.R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load_csv_gating()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process_single_csv_gating()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CSVs with gating columns + FCS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Per-sample gating CSVs or long-format CSVs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Pipeline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load_manual_gating.R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load_manual_gating()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CSVs with manual gating columns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Named list of label vectors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Custom workflows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load_flowjo_wsp.R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load_flowjo_wsp()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load_multiple_workspaces()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.wsp files + FCS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GatingSet objects, population stats/strings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Pipeline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create_flowframes.R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create_flowframes_from_matrices()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create_merged_flowset()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Named list of expression matrices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List of flowFrames, flowSet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Bridge function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4. Preprocessing &amp; QC -- src/preprocessing/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compensation.R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apply_compensation()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extract_compensation_matrix()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+ comp.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Compensated flowFrame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transformation.R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transform_flowframe()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find_optimal_b_cofactor()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flowFrame, markers, method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Transformed flowFrame (arcsinh/logicle/biexp/log)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spectral_unmixing.R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unmix_spectral()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build_unmixing_matrix()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Single-stain controls + spectral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Unmixed flowFrame with virtual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bead_normalization.R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normalize_beads()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identify_beads()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+ bead channel names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Normalized flowFrame + bead indices + factors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doublet_detection.R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detect_doublets()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with scatter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Filtered flowFrame + doublet indices + singlet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live_dead_gating.R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gate_live_cells()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find_density_valley()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+ viability marker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Live flowFrame + dead indices + viability rate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quality_control.R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quality_control()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QC-filtered flowFrame (flowAI/PeacoQC)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4. Preprocessing &amp; QC -- src/preprocessing/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downsampling.R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downsample_flowframes()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List of flowFrames + target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Downsampled flowFrame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normalization.R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z_score_scaling()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quantile_norm()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harmony_normalize()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or matrix + batch vector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Normalized flowFrame or matrix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supercell.R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run_supercell()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run_supercell_per_cluster()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sample labels + markers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Supercell matrix + labels + cell map + sizes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automated_gating.R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run_auto_gating()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+ channels + optional template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Gated flowFrame + gate coords + population stats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gate_utils.R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apply_gate_sequence()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boolean_gate()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+ gate list +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Filtered flowFrame + gate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preprocess_pipeline.R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run_preprocessing()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+ config params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Preprocessed flowFrame list (QC+transform+norm)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Typical preprocessing chain:  compensation -&gt; transformation -&gt; QC -&gt; doublet removal -&gt; live/dead gating -&gt; downsampling -&gt; normalization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B2A4A"/>
                </a:solidFill>
                <a:latin typeface="Calibri"/>
              </a:defRPr>
            </a:pPr>
            <a:r>
              <a:t>5. Panel Harmonization &amp; Batch Correction -- src/harmonization/ (5 scripts)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panel_comparison.R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compare_panels_detailed()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Common/all markers, presence matrix, panel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panel_homogenization.R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homogenize_flowframes()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replace_markernames()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+ target order + replacement map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Homogenized flowFrame list with unified panel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batch_correction.R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run_batch_correction()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+ batch labels + markers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Corrected matrix + sample/batch labels (Harmony)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cytonorm.R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run_cytonorm()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Train/validation flowFrame lists + batch labels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Corrected flowFrames + CytoNorm model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combat.R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run_combat()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 matrix + batch vector + optional covariates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Corrected matrix (empirical Bayes)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5029200"/>
            <a:ext cx="114300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Batch Correction Dispatcher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358384"/>
            <a:ext cx="1143000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run_batch_correction_dispatch(data, method, batch_labels, ...) in R_shared/batch_correction_dispatch.R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Routes to: harmony | cytonorm | combat | none</a:t>
            </a:r>
            <a:r>
              <a:rPr sz="1100">
                <a:solidFill>
                  <a:srgbClr val="000000"/>
                </a:solidFill>
                <a:latin typeface="Calibri"/>
              </a:rPr>
              <a:t> -- based on config param batch_method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Accepts BOTH flowFrame list and numeric matrix</a:t>
            </a:r>
            <a:r>
              <a:rPr sz="1100">
                <a:solidFill>
                  <a:srgbClr val="000000"/>
                </a:solidFill>
                <a:latin typeface="Calibri"/>
              </a:rPr>
              <a:t> -- auto-converts as needed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Returns: list(corrected_matrix, sample_labels, batch_labels, markers, corrected_frames)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B2A4A"/>
                </a:solidFill>
                <a:latin typeface="Calibri"/>
              </a:defRPr>
            </a:pPr>
            <a:r>
              <a:t>6. Clustering, Validation &amp; Annotation -- src/clustering/ (9 scripts)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leiden.R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run_leiden()</a:t>
                      </a:r>
                    </a:p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clusters_to_gating_csv()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matrix, n_neighbors,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Integer cluster IDs + UMAP coords + per-sample gating CSVs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flowsom.R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run_flowsom()</a:t>
                      </a:r>
                    </a:p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run_flowsom_flowframes()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or flowFrame list, n_clusters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Integer cluster IDs + FlowSOM object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phenograph.R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run_phenograph()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matrix, k (nearest neighbors)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Integer cluster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dbscan.R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run_dbscan()</a:t>
                      </a:r>
                    </a:p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estimate_eps()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matrix, eps, min_pts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 IDs + noise indices + noise fraction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meta_clustering.R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run_resolution_sweep()</a:t>
                      </a:r>
                    </a:p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consensus_clusters()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method + resolution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clusters + scores + all clusterings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cluster_validation.R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validate_clusters()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cluster IDs + optional true labels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Metrics table (silhouette, CH, DB, ARI)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cell_annotation.R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annotate_clusters()</a:t>
                      </a:r>
                    </a:p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annotate_by_correlation()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cluster IDs + reference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Annotation table (cluster, type, confidence, medians)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flowjo_import.R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import_flowjo_gates()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.wsp file + FCS directory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GatingSet + assignments + populations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cluster_assignment.R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get_cluster_assignments()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Source type + file paths/objects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 frame (cell_id, cluster, cluster_name)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5760720"/>
            <a:ext cx="1143000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Clustering Dispatcher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6089904"/>
            <a:ext cx="11430000" cy="4937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run_clustering(expr_matrix, method, params)</a:t>
            </a:r>
            <a:r>
              <a:rPr sz="1100">
                <a:solidFill>
                  <a:srgbClr val="000000"/>
                </a:solidFill>
                <a:latin typeface="Calibri"/>
              </a:rPr>
              <a:t> -- all methods return integer vector of cluster IDs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Dispatcher coerces Leiden output from numeric to integer; DBSCAN noise is cluster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7. Statistical Analysis -- src/analysis/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cluster_splitting.R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split_by_cluster()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tracking_matrix_to_long()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Per-cell CSVs + cluster regex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Per-cluster CSVs + tracking matrix +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expression_matrices.R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create_expression_matrices()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combine_expression_matrices()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Cluster-split CSVs + markers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Named list of expression matrices per cluster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differential_abundance.R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build_abundance_matrix()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run_differential_abundance()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Per-cell CSVs + conditions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Abundance stats + volcano plots (GLMM)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cluster_enrichment.R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run_cluster_enrichment()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Tracking matrix + conditions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Enrichment results (Fisher exact / mixed-effects logistic)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marker_statistics.R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run_marker_statistics()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 matrices + group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Per-marker stats (Wilcoxon/KW/lmer) + volcano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differential_expression.R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run_differential_expression()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 matrix + conditions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 results per marker (limma/lmer/Wilcoxon)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7. Statistical Analysis -- src/analysis/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effect_sizes.R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compute_effect_sizes()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 matrix + group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Cohen's d, Cliff's delta, Hedges' g per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correlation_analysis.R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run_correlation_analysis()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 matrix + cluster IDs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Spearman/Pearson correlation matrices per cluster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diffcyt_analysis.R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run_diffcyt()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+ experiment info +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diffcyt DA/DS results (edgeR/limma-based)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survival_analysis.R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run_survival_analysis()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 abundances + survival data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Cox PH results + Kaplan-Meier plots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abundance_plotting.R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plot_abundance()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Tracking matrix + sample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Stacked, proportional, heatmap, totals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cell_ratio.R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compute_cell_ratios()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 abundances + ratio definitions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Cell type ratio table + comparisons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8B5CF6"/>
                </a:solidFill>
                <a:latin typeface="Calibri"/>
              </a:defRPr>
            </a:pPr>
            <a:r>
              <a:t>Statistical methods available: Fisher's exact, mixed-effects logistic regression, negative binomial GLMM (lme4), Wilcoxon, Kruskal-Wallis, limma, diffcyt (edgeR), Cox proportional hazards, Cohen's d, Cliff's delta, Hedges' g, Spearman/Pearson correlations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8. Visualization -- src/visualization/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umap.R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plot_umap()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plot_umap_from_matrix()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OR expr. matrix +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UMAP plots (PNG/PDF/SVG) + coordinates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tsne.R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plot_tsne()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plot_tsne_from_matrix()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OR expr. matrix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t-SNE plots + coordinates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diffusion_map.R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plot_diffusion_map()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Diffusion map plots + coordinates (destiny pkg)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heatmaps.R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plot_heatmap()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Expression matrix + cluster/sample labels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Hierarchical cluster heatmaps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density_plots.R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plot_density()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plot_density_from_matrix()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OR matrix + markers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1D/2D density plots per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biaxial_plots.R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plot_biaxial()</a:t>
                      </a:r>
                    </a:p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plot_biaxial_from_matrix()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 OR matrix + marker pairs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2D scatter with density/marker/cluster coloring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violin_plots.R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plot_violin()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cluster/condition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Violin/box/sina plots per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8. Visualization -- src/visualization/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radar_plots.R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plot_radar()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 median expression + markers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Spider/radar charts per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contour_plots.R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plot_contour()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2D coordinates (UMAP/tSNE) + values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2D density contour overlays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barplots.R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plot_composition_barplot()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Tracking matrix (long format)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Stacked composition barplots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upset_plots.R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plot_upset()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Binary membership matrix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UpSet intersection plots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venn_diagrams.R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plot_venn()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List of sets or binary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Venn/Euler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pca.R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plot_pca()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Expr. matrix + labels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PCA plots + variance explained + loadings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4754880"/>
            <a:ext cx="114300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Dual-Input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084064"/>
            <a:ext cx="1143000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UMAP, t-SNE, density, biaxial all accept EITHER flowFrame list OR numeric matrix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flowFrame path: plot_umap(flow_frames, ...)</a:t>
            </a:r>
            <a:r>
              <a:rPr sz="1100">
                <a:solidFill>
                  <a:srgbClr val="000000"/>
                </a:solidFill>
                <a:latin typeface="Calibri"/>
              </a:rPr>
              <a:t> -- internal extraction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Matrix path: plot_umap_from_matrix(expr_matrix, labels, ...)</a:t>
            </a:r>
            <a:r>
              <a:rPr sz="1100">
                <a:solidFill>
                  <a:srgbClr val="000000"/>
                </a:solidFill>
                <a:latin typeface="Calibri"/>
              </a:rPr>
              <a:t> -- direct, faster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Dimred Dispatcher: run_dimred(expr_matrix, method)</a:t>
            </a:r>
            <a:r>
              <a:rPr sz="1100">
                <a:solidFill>
                  <a:srgbClr val="000000"/>
                </a:solidFill>
                <a:latin typeface="Calibri"/>
              </a:rPr>
              <a:t> -- unified interface for all three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9. Metadata QC -- src/metadata_qc/ (4 scripts)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Function(s)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973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check_metadata.R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check_metadata()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Sample metadata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Validation report (missing, inconsistent values)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check_acquisition.R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check_acquisition()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FCS files or metadata CSV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Acquisition date/parameter QC plots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overlap_statistics.R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compute_fleiss_kappa()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Multiple gating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Inter-rater reliability (Fleiss' kappa)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compare_gatings.R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compare_gatings()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Two or more gating CSVs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Gating comparison visualizations (Venn/UpSet)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A4A"/>
                </a:solidFill>
                <a:latin typeface="Calibri"/>
              </a:defRPr>
            </a:pPr>
            <a:r>
              <a:t>These scripts are primarily used in Pipeline D (FlowJo comparison) and as standalone QC checks before running any analysis pipeline. They help validate data quality and gating consistency.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10. Pipeline A: Raw FCS -&gt; Full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7432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load_fcs_raw()</a:t>
            </a:r>
          </a:p>
        </p:txBody>
      </p:sp>
      <p:sp>
        <p:nvSpPr>
          <p:cNvPr id="5" name="Down Arrow 4"/>
          <p:cNvSpPr/>
          <p:nvPr/>
        </p:nvSpPr>
        <p:spPr>
          <a:xfrm>
            <a:off x="1719072" y="1325880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81328"/>
            <a:ext cx="27432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run_preprocessing()</a:t>
            </a:r>
          </a:p>
        </p:txBody>
      </p:sp>
      <p:sp>
        <p:nvSpPr>
          <p:cNvPr id="7" name="Down Arrow 6"/>
          <p:cNvSpPr/>
          <p:nvPr/>
        </p:nvSpPr>
        <p:spPr>
          <a:xfrm>
            <a:off x="1719072" y="1801368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956816"/>
            <a:ext cx="27432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homogenize_flowframes()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19072" y="2276856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432304"/>
            <a:ext cx="27432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run_batch_correction_dispatch()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19072" y="2752344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907792"/>
            <a:ext cx="27432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downsample_flowframes()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719072" y="3227832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2743200" cy="3200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build_combined_expr_matrix()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719072" y="3703320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858768"/>
            <a:ext cx="27432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run_clustering()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719072" y="4178808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334256"/>
            <a:ext cx="27432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clusters_to_gating_csv()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719072" y="4654296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809744"/>
            <a:ext cx="27432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split_by_cluster()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719072" y="5129783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285231"/>
            <a:ext cx="27432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run_differential_abundance()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719072" y="5605271"/>
            <a:ext cx="219456" cy="1371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5760720"/>
            <a:ext cx="274320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run_dimred()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Raw .fcs files in a directory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Swappable 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1945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Clustering: leiden | flowsom | phenograph | dbscan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Dim. reduction: umap | tsne | diffusion_map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Batch correction: harmony | cytonorm | combat | 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840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Preprocessed flowFrame list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Per-sample gating CSVs with cluster columns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Per-cluster expression matrices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Differential abundance results + volcano plots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UMAP/t-SNE/diffusion map coordinates + plots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005840"/>
            <a:ext cx="384048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Most Comprehensive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335024"/>
            <a:ext cx="3840480" cy="2414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Covers the entire workflow from raw instrument data to publication-ready figures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Handles QC, compensation, transformation, panel unification, batch correction, clustering, statistical analysis, and visualization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All method choices configurable via a single config 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931920"/>
            <a:ext cx="38404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 Directories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261104"/>
            <a:ext cx="3840480" cy="19568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01_preprocessing/</a:t>
            </a:r>
            <a:r>
              <a:rPr sz="1100">
                <a:solidFill>
                  <a:srgbClr val="000000"/>
                </a:solidFill>
                <a:latin typeface="Calibri"/>
              </a:rPr>
              <a:t> -- QC'd flowFrames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02_harmonization/</a:t>
            </a:r>
            <a:r>
              <a:rPr sz="1100">
                <a:solidFill>
                  <a:srgbClr val="000000"/>
                </a:solidFill>
                <a:latin typeface="Calibri"/>
              </a:rPr>
              <a:t> -- unified panels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03_clustering/</a:t>
            </a:r>
            <a:r>
              <a:rPr sz="1100">
                <a:solidFill>
                  <a:srgbClr val="000000"/>
                </a:solidFill>
                <a:latin typeface="Calibri"/>
              </a:rPr>
              <a:t> -- cluster assignments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04_analysis/</a:t>
            </a:r>
            <a:r>
              <a:rPr sz="1100">
                <a:solidFill>
                  <a:srgbClr val="000000"/>
                </a:solidFill>
                <a:latin typeface="Calibri"/>
              </a:rPr>
              <a:t> -- stats + split clusters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Calibri"/>
              </a:rPr>
              <a:t>05_visualization/</a:t>
            </a:r>
            <a:r>
              <a:rPr sz="1100">
                <a:solidFill>
                  <a:srgbClr val="000000"/>
                </a:solidFill>
                <a:latin typeface="Calibri"/>
              </a:rPr>
              <a:t> -- plots + coordinates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11. Pipeline B: CSV Expression -&gt; Quick Stats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2004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load_csv_expression()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743200" y="2103120"/>
            <a:ext cx="274320" cy="54864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3200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run_marker_statistics()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43200" y="3200400"/>
            <a:ext cx="274320" cy="54864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3200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combine_expression_matrices()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43200" y="4297680"/>
            <a:ext cx="274320" cy="54864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937759"/>
            <a:ext cx="32004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plot_heatmap()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62179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 B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700784"/>
            <a:ext cx="6217920" cy="14996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Input: CSV expression matrices (one file per sample, rows=cells, cols=markers)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No preprocessing, clustering, or gating</a:t>
            </a:r>
            <a:r>
              <a:rPr sz="1200">
                <a:solidFill>
                  <a:srgbClr val="000000"/>
                </a:solidFill>
                <a:latin typeface="Calibri"/>
              </a:rPr>
              <a:t> -- purely exploratory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Quickest pipeline: runs in under 5 minutes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Best for: initial marker validation, QC checks, expression profiling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474720"/>
            <a:ext cx="621792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803904"/>
            <a:ext cx="621792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Marker statistics CSV</a:t>
            </a:r>
            <a:r>
              <a:rPr sz="1200">
                <a:solidFill>
                  <a:srgbClr val="000000"/>
                </a:solidFill>
                <a:latin typeface="Calibri"/>
              </a:rPr>
              <a:t> -- per-marker mean, median, percentiles across samples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Expression heatmap</a:t>
            </a:r>
            <a:r>
              <a:rPr sz="1200">
                <a:solidFill>
                  <a:srgbClr val="000000"/>
                </a:solidFill>
                <a:latin typeface="Calibri"/>
              </a:rPr>
              <a:t> -- hierarchical clustering of markers x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1206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8B5CF6"/>
                </a:solidFill>
                <a:latin typeface="Calibri"/>
              </a:defRPr>
            </a:pPr>
            <a:r>
              <a:t>Tip: Can be extended with custom scripts. Add clustering via run_clustering() on the combined matrix, then export via clusters_to_gating_csv() to feed into Pipeline 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12. Pipeline C: CSV Gating -&gt; Cluster Abundance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load_csv_gating()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286000" y="182880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41148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split_by_cluster()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286000" y="283464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41148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run_cluster_enrichment()</a:t>
            </a:r>
            <a:br/>
            <a:r>
              <a:t>OR run_differential_abundance()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86000" y="384048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41148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plot_composition_barplot()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86000" y="4846320"/>
            <a:ext cx="274320" cy="45720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5394960"/>
            <a:ext cx="41148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plot_abundance()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88720"/>
            <a:ext cx="667512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 C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517904"/>
            <a:ext cx="6675120" cy="16824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Input: CSVs with expression columns + binary cluster/gating columns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Skips clustering</a:t>
            </a:r>
            <a:r>
              <a:rPr sz="1200">
                <a:solidFill>
                  <a:srgbClr val="000000"/>
                </a:solidFill>
                <a:latin typeface="Calibri"/>
              </a:rPr>
              <a:t> -- works with pre-existing gates (FlowJo, Pipeline A, manual)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Branching analysis: enrichment (Fisher exact) OR abundance (GLMM)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Generates comprehensive abundance/composition visualizations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Configurable analysis_method: 'enrichment' or 'abundance'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474720"/>
            <a:ext cx="667512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803904"/>
            <a:ext cx="6675120" cy="19568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Per-cluster CSVs split by population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Statistical results: enrichment (Fisher) or abundance (NB-GLMM) + volcano plots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Composition barplots (stacked)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Abundance plots: stacked, proportional, heatmap, totals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13. Pipeline D: FlowJo Comparison -&gt; Gating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365760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load_multiple_workspaces()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926080" y="2331720"/>
            <a:ext cx="274320" cy="5943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017520"/>
            <a:ext cx="365760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compare_gatings()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926080" y="3520439"/>
            <a:ext cx="274320" cy="59436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4206240"/>
            <a:ext cx="365760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compute_fleiss_kappa()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76072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 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00784"/>
            <a:ext cx="5760720" cy="16824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Input: FlowJo .wsp workspace files + corresponding .fcs files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Specialized for comparing gating strategies across analysts/methods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Does NOT perform clustering or statistical abundance testing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Requires study-specific config (no default config exists)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657600"/>
            <a:ext cx="576072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986784"/>
            <a:ext cx="5760720" cy="13167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Gating comparison visualizations (Venn/Euler diagrams)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Fleiss' kappa statistics for inter-rater agreement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Population assignment concordance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B2A4A"/>
                </a:solidFill>
                <a:latin typeface="Calibri"/>
              </a:defRPr>
            </a:pPr>
            <a:r>
              <a:t>Typical use: Validating manual gating consistency between labs, comparing automated vs. manual gating, assessing gating protocol reproducibility across cytometrists.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14. Pipeline E: Preprocessed FCS -&gt; Fast UMAP/Clustering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4747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load_fcs_raw()</a:t>
            </a:r>
          </a:p>
        </p:txBody>
      </p:sp>
      <p:sp>
        <p:nvSpPr>
          <p:cNvPr id="5" name="Down Arrow 4"/>
          <p:cNvSpPr/>
          <p:nvPr/>
        </p:nvSpPr>
        <p:spPr>
          <a:xfrm>
            <a:off x="2377440" y="1783080"/>
            <a:ext cx="274320" cy="27432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34747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homogenize_flowframes()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77440" y="2560320"/>
            <a:ext cx="274320" cy="27432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3474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downsample_flowframes()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77440" y="3337560"/>
            <a:ext cx="274320" cy="27432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703320"/>
            <a:ext cx="3474720" cy="4114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build_combined_expr_matrix()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77440" y="4114800"/>
            <a:ext cx="274320" cy="27432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347472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run_clustering()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377440" y="4892040"/>
            <a:ext cx="274320" cy="274320"/>
          </a:xfrm>
          <a:prstGeom prst="down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347472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run_dimred()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188720"/>
            <a:ext cx="667512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 E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517904"/>
            <a:ext cx="6675120" cy="19568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Input: Already-preprocessed .fcs files (no QC/compensation needed)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Lightweight version of Pipeline A</a:t>
            </a:r>
            <a:r>
              <a:rPr sz="1200">
                <a:solidFill>
                  <a:srgbClr val="000000"/>
                </a:solidFill>
                <a:latin typeface="Calibri"/>
              </a:rPr>
              <a:t> -- skips QC and preprocessing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Use when FCS files preprocessed externally (CellRanger, FlowJo, Cytobank)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Fast path to visualization and clustering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Same swappable methods as Pipeline A (clustering + dimred dispatchers)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749039"/>
            <a:ext cx="667512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078223"/>
            <a:ext cx="667512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Harmonized flowFrame list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Cluster assignments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Dimensionality reduction coordinates + plots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5394960"/>
            <a:ext cx="667512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Pipeline A vs 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724144"/>
            <a:ext cx="667512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Pipeline A: QC + Preprocess + Harmonize + Cluster + Analyze + Visualize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Pipeline E: Harmonize + Cluster + Visualize (skips QC, preprocess, analysis)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15. Pipeline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B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Input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Raw FCS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CSV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CSV with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FlowJo WSP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Preprocessed FCS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QC / Preprocessing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Panel harmonization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Batch correction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Differential abundance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Enrichment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Marker statistics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Gating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Visualization type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UMAP/tSNE/DM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Heatmap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Barplots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Venn/UpSet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UMAP/tSNE/DM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Quick 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Existing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Method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Fast iteration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B2A4A"/>
                </a:solidFill>
                <a:latin typeface="Calibri"/>
              </a:defRPr>
            </a:pPr>
            <a:r>
              <a:t>16. Data Formats, Bridge Functions &amp; Dispatchers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5 Core Data Formats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8288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flowFrame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B2A4A"/>
                </a:solidFill>
                <a:latin typeface="Calibri"/>
              </a:defRPr>
            </a:pPr>
            <a:r>
              <a:t>Named list of flowCore::flowFrame objects (one per sample)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8288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Numeric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B2A4A"/>
                </a:solidFill>
                <a:latin typeface="Calibri"/>
              </a:defRPr>
            </a:pPr>
            <a:r>
              <a:t>Rows=cells, cols=markers. Standard input for stats/clustering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18288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Gating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B2A4A"/>
                </a:solidFill>
                <a:latin typeface="Calibri"/>
              </a:defRPr>
            </a:pPr>
            <a:r>
              <a:t>Semicolon-separated; expression + binary cluster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8288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Tracking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B2A4A"/>
                </a:solidFill>
                <a:latin typeface="Calibri"/>
              </a:defRPr>
            </a:pPr>
            <a:r>
              <a:t>Wide data.frame: rows=samples, cols=clusters, vals=counts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18288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Long Data.frame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B2A4A"/>
                </a:solidFill>
                <a:latin typeface="Calibri"/>
              </a:defRPr>
            </a:pPr>
            <a:r>
              <a:t>Tidy: sample-cluster rows with file, cluster, count cols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Bridge Functions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8463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From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build_combined_expr_matrix()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R_shared/flowframe_utils.R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create_flowframes_from_matrices()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 matrix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flowFrame list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loading/create_flowframes.R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clusters_to_gating_csv()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Matrix +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Per-sample CSVs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clustering/leiden.R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tracking_matrix_to_long()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Wide tracking matrix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Long data.frame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analysis/cluster_splitting.R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run_supercell()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Compressed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preprocessing/supercell.R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8580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3 Method Dispatchers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417320"/>
            <a:ext cx="502920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run_clustering(expr_matrix, method, params)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746504"/>
            <a:ext cx="502920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Routes to: leiden | flowsom | phenograph | dbscan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Always returns: integer vector of cluster IDs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Config param: clustering_method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926080"/>
            <a:ext cx="50292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run_dimred(expr_matrix, method, ...)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255264"/>
            <a:ext cx="5029200" cy="10424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Routes to: umap | tsne | diffusion_map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Returns: list(coords, method, plots, extra)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Config param: dimred_method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434840"/>
            <a:ext cx="50292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run_batch_correction_dispatch(data, method, batch, ...)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764024"/>
            <a:ext cx="5029200" cy="1225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Routes to: harmony | cytonorm | combat | none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Accepts flowFrame list OR matrix (auto-converts)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Returns: list(corrected_matrix, sample_labels, ...)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000000"/>
                </a:solidFill>
                <a:latin typeface="Calibri"/>
              </a:rPr>
              <a:t>Config param: batch_method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17. Decision Tree: Which Pipeline to Use?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65760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is your input data?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86000"/>
            <a:ext cx="24688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.fcs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286000"/>
            <a:ext cx="24688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CSV expression</a:t>
            </a:r>
            <a:br/>
            <a:r>
              <a:t>(no gates)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286000"/>
            <a:ext cx="24688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CSV with</a:t>
            </a:r>
            <a:br/>
            <a:r>
              <a:t>gating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286000"/>
            <a:ext cx="24688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FlowJo .wsp</a:t>
            </a:r>
            <a:br/>
            <a:r>
              <a:t>workspaces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2468880" cy="4572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Need QC?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" y="4206240"/>
            <a:ext cx="128016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  <a:br/>
            <a:r>
              <a:t>Pipeline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4206240"/>
            <a:ext cx="128016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</a:t>
            </a:r>
            <a:br/>
            <a:r>
              <a:t>Pipeline 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383280"/>
            <a:ext cx="2468880" cy="4572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Need clustering?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206240"/>
            <a:ext cx="12801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</a:t>
            </a:r>
            <a:br/>
            <a:r>
              <a:t>Pipeline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06240"/>
            <a:ext cx="12801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YES</a:t>
            </a:r>
            <a:br/>
            <a:r>
              <a:t>B + cluster</a:t>
            </a:r>
            <a:br/>
            <a:r>
              <a:t>-&gt; Pipeline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383280"/>
            <a:ext cx="21945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Pipeline C</a:t>
            </a:r>
            <a:br/>
            <a:r>
              <a:t>Abundance/Enrichment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383280"/>
            <a:ext cx="24688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Pipeline D</a:t>
            </a:r>
            <a:br/>
            <a:r>
              <a:t>Gating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12080"/>
            <a:ext cx="1143000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Remember: Pipelines are examples -- you can mix and match scripts freely!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541264"/>
            <a:ext cx="11430000" cy="9509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The composability guide (docs/composability-guide.md) shows 8 custom workflow examples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Any script chain is valid if data formats match at each connection point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Bridge functions convert between formats: flowFrame &lt;-&gt; matrix &lt;-&gt; CSV &lt;-&gt; tracking matrix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000000"/>
                </a:solidFill>
                <a:latin typeface="Calibri"/>
              </a:rPr>
              <a:t>See docs/api-reference.md for complete function signatures and parameter documentation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18.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67 standalone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Each script has one purpose with documented inputs/outputs. Read the top-of-file annotations for I/O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 pipeline orchestrators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Thin example workflows. Pipeline A is most comprehensive; Pipeline B is fastest. All configurable.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 method dispatchers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26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Swap clustering (Leiden/FlowSOM/PhenoGraph/DBSCAN), dimensionality reduction (UMAP/t-SNE/diffusion map), and batch correction (Harmony/CytoNorm/ComBat) via a single config parameter.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 data format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8404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flowFrame list, numeric matrix, gating CSV, tracking matrix, long data.frame. Bridge functions convert between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Config-driven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 parameters in config files under config/. Study-specific configs in config/study_params/. No code changes needed for different analyses.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Composable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692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Mix and match scripts freely across pipeline boundaries. See docs/composability-guide.md for the full data flow diagram and 8 custom workflow examples.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06B6D4"/>
                </a:solidFill>
                <a:latin typeface="Calibri"/>
              </a:defRPr>
            </a:pPr>
            <a:r>
              <a:t>Key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CLAUDE.md</a:t>
            </a:r>
            <a:r>
              <a:rPr sz="1300" b="0">
                <a:solidFill>
                  <a:srgbClr val="CBD5E1"/>
                </a:solidFill>
                <a:latin typeface="Calibri"/>
              </a:rPr>
              <a:t> -- Project overview (root of repo)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docs/composability-guide.md</a:t>
            </a:r>
            <a:r>
              <a:rPr sz="1300" b="0">
                <a:solidFill>
                  <a:srgbClr val="CBD5E1"/>
                </a:solidFill>
                <a:latin typeface="Calibri"/>
              </a:rPr>
              <a:t> -- Data flow, bridge functions, custom workflows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docs/methods-guide.md</a:t>
            </a:r>
            <a:r>
              <a:rPr sz="1300" b="0">
                <a:solidFill>
                  <a:srgbClr val="CBD5E1"/>
                </a:solidFill>
                <a:latin typeface="Calibri"/>
              </a:rPr>
              <a:t> -- When to use each statistical method (with references)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docs/api-reference.md</a:t>
            </a:r>
            <a:r>
              <a:rPr sz="1300" b="0">
                <a:solidFill>
                  <a:srgbClr val="CBD5E1"/>
                </a:solidFill>
                <a:latin typeface="Calibri"/>
              </a:rPr>
              <a:t> -- Complete function signatures and parameters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docs/methods/*.md</a:t>
            </a:r>
            <a:r>
              <a:rPr sz="1300" b="0">
                <a:solidFill>
                  <a:srgbClr val="CBD5E1"/>
                </a:solidFill>
                <a:latin typeface="Calibri"/>
              </a:rPr>
              <a:t> -- Deep-dive per method (FlowSOM, PhenoGraph, etc.)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config/*.R</a:t>
            </a:r>
            <a:r>
              <a:rPr sz="1300" b="0">
                <a:solidFill>
                  <a:srgbClr val="CBD5E1"/>
                </a:solidFill>
                <a:latin typeface="Calibri"/>
              </a:rPr>
              <a:t> -- Pipeline + standalone config templates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Each src/ subproject has its own CLAUDE.md and tests/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06B6D4"/>
                </a:solidFill>
                <a:latin typeface="Calibri"/>
              </a:defRPr>
            </a:pPr>
            <a:r>
              <a:t>Environment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conda env create -f environment.yml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conda activate cytometry_env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Rscript install_extra_packages.R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06B6D4"/>
                </a:solidFill>
                <a:latin typeface="Calibri"/>
              </a:defRPr>
            </a:pPr>
            <a:r>
              <a:t>Key R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474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flowCore, flowWorkspace</a:t>
            </a:r>
            <a:r>
              <a:rPr sz="1200" b="0">
                <a:solidFill>
                  <a:srgbClr val="CBD5E1"/>
                </a:solidFill>
                <a:latin typeface="Calibri"/>
              </a:rPr>
              <a:t> -- FCS handling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data.table</a:t>
            </a:r>
            <a:r>
              <a:rPr sz="1200" b="0">
                <a:solidFill>
                  <a:srgbClr val="CBD5E1"/>
                </a:solidFill>
                <a:latin typeface="Calibri"/>
              </a:rPr>
              <a:t> -- Fast I/O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lme4</a:t>
            </a:r>
            <a:r>
              <a:rPr sz="1200" b="0">
                <a:solidFill>
                  <a:srgbClr val="CBD5E1"/>
                </a:solidFill>
                <a:latin typeface="Calibri"/>
              </a:rPr>
              <a:t> -- Mixed-effects models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uwot, Rtsne, destiny</a:t>
            </a:r>
            <a:r>
              <a:rPr sz="1200" b="0">
                <a:solidFill>
                  <a:srgbClr val="CBD5E1"/>
                </a:solidFill>
                <a:latin typeface="Calibri"/>
              </a:rPr>
              <a:t> -- Dim. reduction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ggplot2, patchwork, viridis</a:t>
            </a:r>
            <a:r>
              <a:rPr sz="1200" b="0">
                <a:solidFill>
                  <a:srgbClr val="CBD5E1"/>
                </a:solidFill>
                <a:latin typeface="Calibri"/>
              </a:rPr>
              <a:t> -- Plotting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FlowSOM, dbscan</a:t>
            </a:r>
            <a:r>
              <a:rPr sz="1200" b="0">
                <a:solidFill>
                  <a:srgbClr val="CBD5E1"/>
                </a:solidFill>
                <a:latin typeface="Calibri"/>
              </a:rPr>
              <a:t> -- Clustering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diffcyt, limma, sva</a:t>
            </a:r>
            <a:r>
              <a:rPr sz="1200" b="0">
                <a:solidFill>
                  <a:srgbClr val="CBD5E1"/>
                </a:solidFill>
                <a:latin typeface="Calibri"/>
              </a:rPr>
              <a:t> -- Differential analysis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survival, survminer</a:t>
            </a:r>
            <a:r>
              <a:rPr sz="1200" b="0">
                <a:solidFill>
                  <a:srgbClr val="CBD5E1"/>
                </a:solidFill>
                <a:latin typeface="Calibri"/>
              </a:rPr>
              <a:t> -- Survival analysis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BD5E1"/>
                </a:solidFill>
                <a:latin typeface="Calibri"/>
              </a:rPr>
              <a:t>SuperCellCyto</a:t>
            </a:r>
            <a:r>
              <a:rPr sz="1200" b="0">
                <a:solidFill>
                  <a:srgbClr val="CBD5E1"/>
                </a:solidFill>
                <a:latin typeface="Calibri"/>
              </a:rPr>
              <a:t> -- Metacell 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1">
                <a:solidFill>
                  <a:srgbClr val="06B6D4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